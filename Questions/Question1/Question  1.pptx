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87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1A019-0AF1-4182-8148-48B91E9ED926}" type="datetimeFigureOut">
              <a:rPr lang="en-KE" smtClean="0"/>
              <a:t>19/11/2025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53C4E-A266-4900-BADA-FD981B0FB74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6564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funds beta measures its volatility in relation to the overall market, with a beta of 1.0 indicating it moves with the market. </a:t>
            </a:r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53C4E-A266-4900-BADA-FD981B0FB74E}" type="slidenum">
              <a:rPr lang="en-KE" smtClean="0"/>
              <a:t>3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41903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R^2 reflects how much of a manager’s return is explained by market movements </a:t>
            </a:r>
          </a:p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A53C4E-A266-4900-BADA-FD981B0FB74E}" type="slidenum">
              <a:rPr lang="en-KE" smtClean="0"/>
              <a:t>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1487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2687-D51B-7062-41B0-0D5B8906B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66976-C951-8883-F6E7-FD2CAB562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B454A-6378-CC96-3993-FC5216E2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526A4-F28C-1654-667E-445B43C6E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86F99-3B6E-C8C4-B91C-5FEC4993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823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5CEE-2E65-1A6C-BA45-AE01AED0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6D364-3872-F11D-07D8-3A56B8694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31020-3B75-8871-3784-0E4527BD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E45A1-6831-C4BF-B442-1E52B465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96A7-5B84-5C8E-0682-60EFEE73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8460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79D2-98C1-E166-FD32-1CE4AAE3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0F34-1A23-50B4-A41C-90960810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F0B18-5E3E-C999-F078-F051143E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85544-82B6-6B79-673F-A7104B91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7527D-E564-937B-1B18-8FFE9D71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1303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0E61-6388-AB74-C5AF-6D074D04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A4BA5-41FE-01FF-ACF9-C136E3D9D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93F3C-F89A-A9A0-111A-2BD5604BD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C8D3A-C93E-BDC1-EC2E-6C6ECCFE7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44F52-1D5D-C259-D511-0F3FCA4AE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3E402-8894-1D63-CA04-0C519857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0156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D669-C662-F20B-E538-2477F25A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7F120-55E2-2F7C-2867-59889FD2F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68298-41A2-4D91-E080-A9EA3EC16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861B1-ADDA-5045-D7F4-C5FD11D7F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9CCC5-6EA7-1729-D617-5DBF1A86C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6FCE73-52D9-821B-9A1E-579A66D1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FA2BB-EDC2-29C3-F9F9-984CB873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361D1-E8FD-AAAC-734C-1EEE55D4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0784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C8EE-FAAC-0740-3386-95C5B6E5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AEDC1-219E-D9FC-4AB4-5469C3DE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EAFDC-A104-3A93-2534-AB75AE62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3749E-DD02-D6D7-B71D-9876E3A4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7965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ADB4F-7634-49C1-9799-17B25970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A96B7-CD3B-E64C-1107-71542308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CCEC2-3421-A6C1-BE31-83DFDABB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8098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115B-AA18-49DA-A5AA-5DAD706F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6D5F7-8312-A0B0-1160-27B7E861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7E91B-B804-CC21-5962-88E54573F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D5234-9D41-807E-A30E-2157B072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5B9C4-725D-48B4-4BD1-653DDC8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1E7A0-83B1-A24E-8A57-B76EA3E8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8097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9C43-3F4E-062B-A375-5EAD9B7D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144293-6664-D4E5-65F3-B7950FC15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7076F-2BD8-3A0A-2EEF-959DBAEDF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AB37F-C6C6-1DD1-0888-0350993D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34B57-7A66-5924-8BB9-8F7CD27B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3283B-D6CE-2BF2-81E4-B003F03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50352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7331-180C-D531-DDBD-BB5CF830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B1034-E662-32F0-CFCB-44313B0D3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45123-10AB-8AE2-277B-524A2A59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C131-0A9F-E53B-1371-2B2DEAC67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580D-3CB5-9CBF-1469-CE0F8ADA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4587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D47F0F-CDAE-CD3E-0D3B-AFE441249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499C9-AD6F-022C-61EA-1B607C74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0B5BE-EA4D-0491-9F4F-67E1A527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44BBB-5E0C-56DD-875B-DA2D6D3F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FDEE5-995B-9EDA-D9FA-3A780B8B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3696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C00DA-7F58-99C7-A8A9-B3AE1741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42ACA-160B-E8FE-BE06-7CA89EB6E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1BB1A-5F28-706E-65DF-CBBD53CE6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8EC21-0B00-49AC-AFB0-9AEB67792C8E}" type="datetimeFigureOut">
              <a:rPr lang="en-KE" smtClean="0"/>
              <a:t>18/11/2025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1FCC-771B-74DF-17C1-5F7264B23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1CBDB-96AF-AB43-2FCC-D0AB7855F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6E088-BAA6-4FC8-A621-5EA5507C3BF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6999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22A1-C002-7EDF-0E9F-B54C1BA95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B4C30-A412-0119-DC59-E6338A260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1891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87E7-93F4-6D7D-010B-EC5D7EB9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/>
              <a:t>Introduction – Peer Performance Insights  </a:t>
            </a:r>
            <a:br>
              <a:rPr lang="en-US" sz="3200" b="1" u="sng" dirty="0"/>
            </a:br>
            <a:r>
              <a:rPr lang="en-US" sz="2400" dirty="0"/>
              <a:t>Benchmarking  ABC  Fund  :  Insights from industry Peers </a:t>
            </a:r>
            <a:endParaRPr lang="en-K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C9223-60A3-A696-4CB1-10575262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7" y="2506662"/>
            <a:ext cx="10515600" cy="4351338"/>
          </a:xfrm>
        </p:spPr>
        <p:txBody>
          <a:bodyPr/>
          <a:lstStyle/>
          <a:p>
            <a:r>
              <a:rPr lang="en-US" dirty="0"/>
              <a:t>This presentation explores how ABC Fund compares to industry  peers using return-based metrics.</a:t>
            </a:r>
          </a:p>
          <a:p>
            <a:r>
              <a:rPr lang="en-US" dirty="0"/>
              <a:t>We focus on metrics like rolling beta, R^2, cumulative returns, and the role of market dispersion.</a:t>
            </a:r>
          </a:p>
          <a:p>
            <a:r>
              <a:rPr lang="en-US" dirty="0"/>
              <a:t>The goal is to understand how our fund behaves differently, and when that matters most.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8806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09E3-BBD1-C1A0-12EE-CDF8E479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88" y="3113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u="sng" dirty="0"/>
              <a:t>Rolling 3-Year Beta vs Peers </a:t>
            </a:r>
            <a:br>
              <a:rPr lang="en-US" dirty="0"/>
            </a:br>
            <a:r>
              <a:rPr lang="en-US" sz="3200" dirty="0"/>
              <a:t>Market sensitivity : ABC’s Funds Beta in Context </a:t>
            </a:r>
            <a:endParaRPr lang="en-KE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375A97-314C-5DBA-FEC3-B5FBD65AE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2387" y="2118451"/>
            <a:ext cx="8283661" cy="42106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28B40F-191E-590C-2172-9B5F1B719146}"/>
              </a:ext>
            </a:extLst>
          </p:cNvPr>
          <p:cNvSpPr txBox="1"/>
          <p:nvPr/>
        </p:nvSpPr>
        <p:spPr>
          <a:xfrm>
            <a:off x="8695765" y="1936376"/>
            <a:ext cx="32138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industry shows a wide range of betas, with peers clustering  tightly  around a beta of ~ 0.8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fund (ABC Fund) is well below industry median (~ 0.45)  which highlights lower sensitivity to market movements.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ABC Fund is thus useful for clients seeking diversification or downside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reinforces the idea that we are offering something other than just market exposure 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4858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3CD2-4D03-A342-D11B-17BAF69A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Rolling 3-Year R^2 vs Peers</a:t>
            </a:r>
            <a:br>
              <a:rPr lang="en-US" dirty="0"/>
            </a:br>
            <a:r>
              <a:rPr lang="en-US" sz="3100" dirty="0"/>
              <a:t>Return Drivers : How differently does our fund behave ?</a:t>
            </a:r>
            <a:endParaRPr lang="en-KE" sz="31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53C661-B40E-229C-C3D0-730430C4C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904" y="1956387"/>
            <a:ext cx="7633038" cy="3879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03FF1-D49C-FD34-FC5C-F65ADE219A8F}"/>
              </a:ext>
            </a:extLst>
          </p:cNvPr>
          <p:cNvSpPr txBox="1"/>
          <p:nvPr/>
        </p:nvSpPr>
        <p:spPr>
          <a:xfrm>
            <a:off x="7888942" y="1690688"/>
            <a:ext cx="34016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Our funds R^2 is well below that of most peers. This means it explains significantly less of its returns through traditional market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This suggests that our strategy is more idiosyncratic, relying less on broad market moves and more on unique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  low R^2 isn’t necessary bad. It just reflects that we are doing something distinct which can be valuable in multi-manger portfolios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23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B213-E559-9479-C342-8A53F68C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Cumulative Performance over Time</a:t>
            </a:r>
            <a:br>
              <a:rPr lang="en-US" dirty="0"/>
            </a:br>
            <a:r>
              <a:rPr lang="en-US" sz="2700" dirty="0"/>
              <a:t>Cumulative returns : ABC Fund vs Peers (IQR Shaded)</a:t>
            </a:r>
            <a:endParaRPr lang="en-KE" sz="27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742A9E-DB81-9E9B-C39B-8BD13A3AF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975" y="2022848"/>
            <a:ext cx="7872102" cy="40014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F87DA8-A842-7CC1-0ABF-DD3B5BBFF739}"/>
              </a:ext>
            </a:extLst>
          </p:cNvPr>
          <p:cNvSpPr txBox="1"/>
          <p:nvPr/>
        </p:nvSpPr>
        <p:spPr>
          <a:xfrm>
            <a:off x="8110077" y="2166283"/>
            <a:ext cx="38439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fund has steadily outperformed the median peer over time. While peer performance varied, ABC Fund has delivered solid, consistent growth.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red line shows ABC Fund’s cumulative return (consistently near upper quartile of peers)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shaded band shows the middle 50% of peer outcomes (IQR). ABC Fund has stayed above it for most of the past decade.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shows strong and consistent value-add, even through periods of market stress and dispersion.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5041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5B10-F912-BFF5-0D18-B4081052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Dispersion and Performance</a:t>
            </a:r>
            <a:br>
              <a:rPr lang="en-US" dirty="0"/>
            </a:br>
            <a:r>
              <a:rPr lang="en-US" sz="2400" dirty="0"/>
              <a:t>ABC Fund and Market Dispersion : Contrarian Edge?</a:t>
            </a:r>
            <a:endParaRPr lang="en-KE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F2DACD-C940-550A-6D2B-063F1E0A2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904" y="2335213"/>
            <a:ext cx="7220662" cy="36703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9C931C-41F1-E2F1-5EBF-B1B371A117F3}"/>
              </a:ext>
            </a:extLst>
          </p:cNvPr>
          <p:cNvSpPr txBox="1"/>
          <p:nvPr/>
        </p:nvSpPr>
        <p:spPr>
          <a:xfrm>
            <a:off x="7871012" y="1973643"/>
            <a:ext cx="363967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point shows ABC Fund’s return vs how spread-out peers returns were that month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a clear trend. We tend to perform better when peers are all over the place ( dispersion is high)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could suggest contrarian value-add. Our approach shines brightest in uncertain  or volatile environments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Despite this, returns are steady in low-dispersion periods too.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shows that ABC Fund doesn’t just follow the crowd. We find opportunity when peers are all over the place.</a:t>
            </a:r>
            <a:endParaRPr lang="en-KE" sz="1600" dirty="0"/>
          </a:p>
        </p:txBody>
      </p:sp>
    </p:spTree>
    <p:extLst>
      <p:ext uri="{BB962C8B-B14F-4D97-AF65-F5344CB8AC3E}">
        <p14:creationId xmlns:p14="http://schemas.microsoft.com/office/powerpoint/2010/main" val="319661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90B1-B1F2-5AEA-AA21-E0EC09C8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Key Takeaways  </a:t>
            </a:r>
            <a:br>
              <a:rPr lang="en-US" b="1" u="sng" dirty="0"/>
            </a:br>
            <a:r>
              <a:rPr lang="en-US" sz="2400" dirty="0"/>
              <a:t>Summary : Why ABC Fund stands out </a:t>
            </a:r>
            <a:endParaRPr lang="en-K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EE311-836D-3D1E-E4ED-A60E2817F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591" y="2346621"/>
            <a:ext cx="10515600" cy="4351338"/>
          </a:xfrm>
        </p:spPr>
        <p:txBody>
          <a:bodyPr/>
          <a:lstStyle/>
          <a:p>
            <a:r>
              <a:rPr lang="en-US" dirty="0"/>
              <a:t>Low Beta and R^2 : Our fund behaves differently from the pack</a:t>
            </a:r>
          </a:p>
          <a:p>
            <a:r>
              <a:rPr lang="en-US" dirty="0"/>
              <a:t>Strong long-term growth : Consistent outperformance vs peers</a:t>
            </a:r>
          </a:p>
          <a:p>
            <a:r>
              <a:rPr lang="en-US" dirty="0"/>
              <a:t>Contrarian edge : We shine most when others are scattered</a:t>
            </a:r>
          </a:p>
          <a:p>
            <a:r>
              <a:rPr lang="en-US" dirty="0"/>
              <a:t>The fund is not just different but reliably different : Perfect for portfolios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23966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536</Words>
  <Application>Microsoft Office PowerPoint</Application>
  <PresentationFormat>Widescreen</PresentationFormat>
  <Paragraphs>37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Question 1</vt:lpstr>
      <vt:lpstr>Introduction – Peer Performance Insights   Benchmarking  ABC  Fund  :  Insights from industry Peers </vt:lpstr>
      <vt:lpstr>Rolling 3-Year Beta vs Peers  Market sensitivity : ABC’s Funds Beta in Context </vt:lpstr>
      <vt:lpstr>Rolling 3-Year R^2 vs Peers Return Drivers : How differently does our fund behave ?</vt:lpstr>
      <vt:lpstr>Cumulative Performance over Time Cumulative returns : ABC Fund vs Peers (IQR Shaded)</vt:lpstr>
      <vt:lpstr>Dispersion and Performance ABC Fund and Market Dispersion : Contrarian Edge?</vt:lpstr>
      <vt:lpstr>Key Takeaways   Summary : Why ABC Fund stands out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Tapiwa Nyamupachitu</dc:creator>
  <cp:lastModifiedBy>Tapiwa Nyamupachitu</cp:lastModifiedBy>
  <cp:revision>4</cp:revision>
  <dcterms:created xsi:type="dcterms:W3CDTF">2025-11-18T12:09:54Z</dcterms:created>
  <dcterms:modified xsi:type="dcterms:W3CDTF">2025-11-19T11:13:26Z</dcterms:modified>
</cp:coreProperties>
</file>